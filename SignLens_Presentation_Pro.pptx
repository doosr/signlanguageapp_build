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lide_bg_tech_17699839500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8D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8000" b="1">
                <a:solidFill>
                  <a:srgbClr val="FFFFFF"/>
                </a:solidFill>
              </a:defRPr>
            </a:pPr>
            <a:r>
              <a:t>SignLens</a:t>
            </a:r>
          </a:p>
          <a:p>
            <a:pPr algn="ctr">
              <a:defRPr sz="3200">
                <a:solidFill>
                  <a:srgbClr val="F0F0F0"/>
                </a:solidFill>
              </a:defRPr>
            </a:pPr>
            <a:r>
              <a:t>L'Intelligence Artificielle au service de l'Inclusion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</a:defRPr>
            </a:pPr>
            <a:r>
              <a:t>1. Contexte &amp; Problématique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2000"/>
            </a:pPr>
            <a:r>
              <a:t>    Une fracture invisible :</a:t>
            </a:r>
            <a:br/>
            <a:r>
              <a:t>    </a:t>
            </a:r>
            <a:br/>
            <a:r>
              <a:t>    • 430 millions de personnes souffrent de déficience auditive.</a:t>
            </a:r>
            <a:br/>
            <a:r>
              <a:t>    • La Langue des Signes est leur langue naturelle.</a:t>
            </a:r>
            <a:br/>
            <a:r>
              <a:t>    • 98% des entendants ne la maîtrisent pas.</a:t>
            </a:r>
            <a:br/>
            <a:r>
              <a:t>    </a:t>
            </a:r>
            <a:br/>
            <a:r>
              <a:t>    Résultat : Isolation sociale, difficultés d'accès aux services publics et à l'emploi.</a:t>
            </a:r>
            <a:br/>
            <a:r>
              <a:t>    </a:t>
            </a:r>
          </a:p>
        </p:txBody>
      </p:sp>
      <p:pic>
        <p:nvPicPr>
          <p:cNvPr id="6" name="Picture 5" descr="social_inclusion_hands_17699840168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2860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</a:defRPr>
            </a:pPr>
            <a:r>
              <a:t>2. La Solution SignLens</a:t>
            </a:r>
          </a:p>
        </p:txBody>
      </p:sp>
      <p:pic>
        <p:nvPicPr>
          <p:cNvPr id="5" name="Picture 4" descr="app_concept_phone_17699839683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2004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0" y="228600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    Une application mobile révolutionnaire :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    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    ✅ Traduction Instantanée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    (Signes -&gt; Texte/Voix)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    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    ✅ Haute Accessibilité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    (Interface simple, contrastée)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    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    ✅ Hybride &amp; Flexible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    (Caméra Téléphone + Caméra Externe ESP32)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    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    ✅ 100% Hors-Ligne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    (Confidentialité &amp; Rapidité)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 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</a:defRPr>
            </a:pPr>
            <a:r>
              <a:t>3. Architecture Technique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2286000" cy="1828800"/>
          </a:xfrm>
          <a:prstGeom prst="round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Acquisition</a:t>
            </a:r>
          </a:p>
          <a:p>
            <a:r>
              <a:t>Video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34640" y="3474720"/>
            <a:ext cx="731520" cy="365760"/>
          </a:xfrm>
          <a:prstGeom prst="rightArrow">
            <a:avLst/>
          </a:prstGeom>
          <a:solidFill>
            <a:srgbClr val="0078D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0" y="2286000"/>
            <a:ext cx="2286000" cy="2743200"/>
          </a:xfrm>
          <a:prstGeom prst="roundRect">
            <a:avLst/>
          </a:prstGeom>
          <a:solidFill>
            <a:srgbClr val="0078D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Moteur IA</a:t>
            </a:r>
          </a:p>
          <a:p>
            <a:r>
              <a:t>(MediaPipe + LSTM)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35040" y="3474720"/>
            <a:ext cx="731520" cy="365760"/>
          </a:xfrm>
          <a:prstGeom prst="rightArrow">
            <a:avLst/>
          </a:prstGeom>
          <a:solidFill>
            <a:srgbClr val="0078D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0" y="2743200"/>
            <a:ext cx="2286000" cy="1828800"/>
          </a:xfrm>
          <a:prstGeom prst="roundRect">
            <a:avLst/>
          </a:prstGeom>
          <a:solidFill>
            <a:srgbClr val="00B4D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Sortie</a:t>
            </a:r>
          </a:p>
          <a:p>
            <a:r>
              <a:t>(TTS + UI)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</a:defRPr>
            </a:pPr>
            <a:r>
              <a:t>4. Hardware : ESP32-CAM</a:t>
            </a:r>
          </a:p>
        </p:txBody>
      </p:sp>
      <p:pic>
        <p:nvPicPr>
          <p:cNvPr id="5" name="Picture 4" descr="esp32_hardware_art_17699840023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</a:p>
          <a:p>
            <a:pPr>
              <a:defRPr sz="2200"/>
            </a:pPr>
            <a:r>
              <a:t>    Pourquoi un module externe ?</a:t>
            </a:r>
          </a:p>
          <a:p>
            <a:pPr>
              <a:defRPr sz="2200"/>
            </a:pPr>
            <a:r>
              <a:t>    </a:t>
            </a:r>
          </a:p>
          <a:p>
            <a:pPr>
              <a:defRPr sz="2200"/>
            </a:pPr>
            <a:r>
              <a:t>    • Liberté de mouvement (caméra portable).</a:t>
            </a:r>
          </a:p>
          <a:p>
            <a:pPr>
              <a:defRPr sz="2200"/>
            </a:pPr>
            <a:r>
              <a:t>    • Coût très faible (&lt; 10$).</a:t>
            </a:r>
          </a:p>
          <a:p>
            <a:pPr>
              <a:defRPr sz="2200"/>
            </a:pPr>
            <a:r>
              <a:t>    • Streaming MJPEG via WiFi.</a:t>
            </a:r>
          </a:p>
          <a:p>
            <a:pPr>
              <a:defRPr sz="2200"/>
            </a:pPr>
            <a:r>
              <a:t>    </a:t>
            </a:r>
          </a:p>
          <a:p>
            <a:pPr>
              <a:defRPr sz="2200"/>
            </a:pPr>
            <a:r>
              <a:t>    Intégration Flutter :</a:t>
            </a:r>
          </a:p>
          <a:p>
            <a:pPr>
              <a:defRPr sz="2200"/>
            </a:pPr>
            <a:r>
              <a:t>    • Auto-découverte.</a:t>
            </a:r>
          </a:p>
          <a:p>
            <a:pPr>
              <a:defRPr sz="2200"/>
            </a:pPr>
            <a:r>
              <a:t>    • Latence optimisée.</a:t>
            </a:r>
          </a:p>
          <a:p>
            <a:pPr>
              <a:defRPr sz="2200"/>
            </a:pPr>
            <a:r>
              <a:t>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</a:defRPr>
            </a:pPr>
            <a:r>
              <a:t>5. Cerveau IA : Modèle Séquentiel</a:t>
            </a:r>
          </a:p>
        </p:txBody>
      </p:sp>
      <p:pic>
        <p:nvPicPr>
          <p:cNvPr id="5" name="Picture 4" descr="ai_neural_diagram_17699839851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45720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0" y="1828800"/>
            <a:ext cx="3200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</a:p>
          <a:p>
            <a:pPr>
              <a:defRPr sz="2000"/>
            </a:pPr>
            <a:r>
              <a:t>    Architecture LSTM :</a:t>
            </a:r>
          </a:p>
          <a:p>
            <a:pPr>
              <a:defRPr sz="2000"/>
            </a:pPr>
            <a:r>
              <a:t>    </a:t>
            </a:r>
          </a:p>
          <a:p>
            <a:pPr>
              <a:defRPr sz="2000"/>
            </a:pPr>
            <a:r>
              <a:t>    • Traite une SEQUENCE temporelle (0.5s).</a:t>
            </a:r>
          </a:p>
          <a:p>
            <a:pPr>
              <a:defRPr sz="2000"/>
            </a:pPr>
            <a:r>
              <a:t>    • Comprend le mouvement, pas juste la pose.</a:t>
            </a:r>
          </a:p>
          <a:p>
            <a:pPr>
              <a:defRPr sz="2000"/>
            </a:pPr>
            <a:r>
              <a:t>    • 84 points clés par frame.</a:t>
            </a:r>
          </a:p>
          <a:p>
            <a:pPr>
              <a:defRPr sz="2000"/>
            </a:pPr>
            <a:r>
              <a:t>    </a:t>
            </a:r>
          </a:p>
          <a:p>
            <a:pPr>
              <a:defRPr sz="2000"/>
            </a:pPr>
            <a:r>
              <a:t>    Performance :</a:t>
            </a:r>
          </a:p>
          <a:p>
            <a:pPr>
              <a:defRPr sz="2000"/>
            </a:pPr>
            <a:r>
              <a:t>    • 95% de précision.</a:t>
            </a:r>
          </a:p>
          <a:p>
            <a:pPr>
              <a:defRPr sz="2000"/>
            </a:pPr>
            <a:r>
              <a:t>    • Inférence &lt; 30ms sur mobile.</a:t>
            </a:r>
          </a:p>
          <a:p>
            <a:pPr>
              <a:defRPr sz="2000"/>
            </a:pPr>
            <a:r>
              <a:t>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</a:defRPr>
            </a:pPr>
            <a:r>
              <a:t>6. Fonctionnalités Clés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2400"/>
              </a:spcBef>
              <a:defRPr sz="2400"/>
            </a:pPr>
            <a:r>
              <a:t>🌐 Mode 100% Hors-Ligne (Embarqué)</a:t>
            </a:r>
          </a:p>
          <a:p>
            <a:pPr>
              <a:spcBef>
                <a:spcPts val="2400"/>
              </a:spcBef>
              <a:defRPr sz="2400"/>
            </a:pPr>
            <a:r>
              <a:t>🗣️ Synthèse Vocale (Texte -&gt; Parole)</a:t>
            </a:r>
          </a:p>
          <a:p>
            <a:pPr>
              <a:spcBef>
                <a:spcPts val="2400"/>
              </a:spcBef>
              <a:defRPr sz="2400"/>
            </a:pPr>
            <a:r>
              <a:t>👆 Détection Mains &amp; Doigts (MediaPipe)</a:t>
            </a:r>
          </a:p>
          <a:p>
            <a:pPr>
              <a:spcBef>
                <a:spcPts val="2400"/>
              </a:spcBef>
              <a:defRPr sz="2400"/>
            </a:pPr>
            <a:r>
              <a:t>🔄 Basculement Caméra Auto (Phone &lt;-&gt; ESP32)</a:t>
            </a:r>
          </a:p>
          <a:p>
            <a:pPr>
              <a:spcBef>
                <a:spcPts val="2400"/>
              </a:spcBef>
              <a:defRPr sz="2400"/>
            </a:pPr>
            <a:r>
              <a:t>🎨 Interface Moderne (Glassmorphism)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</a:defRPr>
            </a:pPr>
            <a:r>
              <a:t>7. Démonstration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[VIDEO DEMO ICI]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</a:defRPr>
            </a:pPr>
            <a:r>
              <a:t>8. Impact &amp; 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  <a:defRPr sz="2200"/>
            </a:pPr>
          </a:p>
          <a:p>
            <a:pPr>
              <a:spcBef>
                <a:spcPts val="1200"/>
              </a:spcBef>
              <a:defRPr sz="2200"/>
            </a:pPr>
            <a:r>
              <a:t>    Impact Immédiat :</a:t>
            </a:r>
          </a:p>
          <a:p>
            <a:pPr>
              <a:spcBef>
                <a:spcPts val="1200"/>
              </a:spcBef>
              <a:defRPr sz="2200"/>
            </a:pPr>
            <a:r>
              <a:t>    • Facilite les échanges simples (Guichets, Commerces).</a:t>
            </a:r>
          </a:p>
          <a:p>
            <a:pPr>
              <a:spcBef>
                <a:spcPts val="1200"/>
              </a:spcBef>
              <a:defRPr sz="2200"/>
            </a:pPr>
            <a:r>
              <a:t>    • Redonne de l'autonomie.</a:t>
            </a:r>
          </a:p>
          <a:p>
            <a:pPr>
              <a:spcBef>
                <a:spcPts val="1200"/>
              </a:spcBef>
              <a:defRPr sz="2200"/>
            </a:pPr>
            <a:r>
              <a:t>    </a:t>
            </a:r>
          </a:p>
          <a:p>
            <a:pPr>
              <a:spcBef>
                <a:spcPts val="1200"/>
              </a:spcBef>
              <a:defRPr sz="2200"/>
            </a:pPr>
            <a:r>
              <a:t>    Futur :</a:t>
            </a:r>
          </a:p>
          <a:p>
            <a:pPr>
              <a:spcBef>
                <a:spcPts val="1200"/>
              </a:spcBef>
              <a:defRPr sz="2200"/>
            </a:pPr>
            <a:r>
              <a:t>    • Support de phrases complètes.</a:t>
            </a:r>
          </a:p>
          <a:p>
            <a:pPr>
              <a:spcBef>
                <a:spcPts val="1200"/>
              </a:spcBef>
              <a:defRPr sz="2200"/>
            </a:pPr>
            <a:r>
              <a:t>    • Traduction bi-directionnelle (Voix -&gt; Avatar Signant).</a:t>
            </a:r>
          </a:p>
          <a:p>
            <a:pPr>
              <a:spcBef>
                <a:spcPts val="1200"/>
              </a:spcBef>
              <a:defRPr sz="2200"/>
            </a:pPr>
            <a:r>
              <a:t>    • Port sur lunettes connectées.</a:t>
            </a:r>
          </a:p>
          <a:p>
            <a:pPr>
              <a:spcBef>
                <a:spcPts val="1200"/>
              </a:spcBef>
              <a:defRPr sz="2200"/>
            </a:pPr>
            <a:r>
              <a:t>  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ocial_inclusion_hands_17699840168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8D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Merci de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